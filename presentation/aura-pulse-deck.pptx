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DS3H7QYuMQg3jNLX03A7Nmj26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oppins-bold.fntdata"/><Relationship Id="rId6" Type="http://schemas.openxmlformats.org/officeDocument/2006/relationships/slide" Target="slides/slide2.xml"/><Relationship Id="rId18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3da869bca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3da869bca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3da869bca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da869bca_0_173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f3da869bca_0_173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f3da869bca_0_173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3da869bca_0_227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f3da869bca_0_227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f3da869bca_0_227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3da869bca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f3da869bca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f3da869bca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3da869bca_0_295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f3da869bca_0_295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3da869bca_0_295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32688" y="5486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66928" y="22860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22C0E8"/>
                </a:solidFill>
                <a:latin typeface="Poppins"/>
                <a:ea typeface="Poppins"/>
                <a:cs typeface="Poppins"/>
                <a:sym typeface="Poppins"/>
              </a:rPr>
              <a:t> AURA PULSE - CASE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2651760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3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Poppin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Bringing Customer Success into AURA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4160520"/>
            <a:ext cx="8961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22C0E8"/>
                </a:solidFill>
                <a:latin typeface="Calibri"/>
                <a:ea typeface="Calibri"/>
                <a:cs typeface="Calibri"/>
                <a:sym typeface="Calibri"/>
              </a:rPr>
              <a:t>Pulse</a:t>
            </a:r>
            <a:r>
              <a:rPr b="0" i="0" lang="en-US" sz="155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50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155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protect and grow ARR from one screen. The account-health workflow that </a:t>
            </a:r>
            <a:r>
              <a:rPr lang="en-US" sz="1550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enables</a:t>
            </a:r>
            <a:r>
              <a:rPr b="0" i="0" lang="en-US" sz="155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 Customer Success turn usage telemetry into revenue action.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5257800"/>
            <a:ext cx="1371600" cy="402336"/>
          </a:xfrm>
          <a:prstGeom prst="roundRect">
            <a:avLst>
              <a:gd fmla="val 50000" name="adj"/>
            </a:avLst>
          </a:prstGeom>
          <a:solidFill>
            <a:srgbClr val="24365F"/>
          </a:solidFill>
          <a:ln cap="flat" cmpd="sng" w="17775">
            <a:solidFill>
              <a:srgbClr val="E94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49808" y="5394960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94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914400" y="52578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oppin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103120" y="5257800"/>
            <a:ext cx="1371600" cy="402336"/>
          </a:xfrm>
          <a:prstGeom prst="roundRect">
            <a:avLst>
              <a:gd fmla="val 50000" name="adj"/>
            </a:avLst>
          </a:prstGeom>
          <a:solidFill>
            <a:srgbClr val="24365F"/>
          </a:solidFill>
          <a:ln cap="flat" cmpd="sng" w="17775">
            <a:solidFill>
              <a:srgbClr val="F595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286000" y="5394960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5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450592" y="52578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oppin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39312" y="5257800"/>
            <a:ext cx="1371600" cy="402336"/>
          </a:xfrm>
          <a:prstGeom prst="roundRect">
            <a:avLst>
              <a:gd fmla="val 50000" name="adj"/>
            </a:avLst>
          </a:prstGeom>
          <a:solidFill>
            <a:srgbClr val="24365F"/>
          </a:solidFill>
          <a:ln cap="flat" cmpd="sng" w="17775">
            <a:solidFill>
              <a:srgbClr val="22C0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822192" y="5394960"/>
            <a:ext cx="146304" cy="14630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3986784" y="52578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Poppins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66928" y="6172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8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8B8"/>
                </a:solidFill>
                <a:latin typeface="Calibri"/>
                <a:ea typeface="Calibri"/>
                <a:cs typeface="Calibri"/>
                <a:sym typeface="Calibri"/>
              </a:rPr>
              <a:t>Bezawit Bekele   ·   </a:t>
            </a:r>
            <a:r>
              <a:rPr lang="en-US" sz="1200">
                <a:solidFill>
                  <a:srgbClr val="8B98B8"/>
                </a:solidFill>
                <a:latin typeface="Calibri"/>
                <a:ea typeface="Calibri"/>
                <a:cs typeface="Calibri"/>
                <a:sym typeface="Calibri"/>
              </a:rPr>
              <a:t>Digital Product Builder</a:t>
            </a:r>
            <a:r>
              <a:rPr b="0" i="0" lang="en-US" sz="1200" u="none" cap="none" strike="noStrike">
                <a:solidFill>
                  <a:srgbClr val="8B98B8"/>
                </a:solidFill>
                <a:latin typeface="Calibri"/>
                <a:ea typeface="Calibri"/>
                <a:cs typeface="Calibri"/>
                <a:sym typeface="Calibri"/>
              </a:rPr>
              <a:t>    ·   Aquablu · August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552180" y="-3713480"/>
            <a:ext cx="6583800" cy="6583800"/>
          </a:xfrm>
          <a:prstGeom prst="ellipse">
            <a:avLst/>
          </a:prstGeom>
          <a:noFill/>
          <a:ln cap="flat" cmpd="sng" w="19050">
            <a:solidFill>
              <a:srgbClr val="1E3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375140" y="-2890520"/>
            <a:ext cx="4937700" cy="4937700"/>
          </a:xfrm>
          <a:prstGeom prst="ellipse">
            <a:avLst/>
          </a:prstGeom>
          <a:noFill/>
          <a:ln cap="flat" cmpd="sng" w="19050">
            <a:solidFill>
              <a:srgbClr val="1E3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198100" y="-2067560"/>
            <a:ext cx="3291900" cy="3291900"/>
          </a:xfrm>
          <a:prstGeom prst="ellipse">
            <a:avLst/>
          </a:prstGeom>
          <a:noFill/>
          <a:ln cap="flat" cmpd="sng" w="25400">
            <a:solidFill>
              <a:srgbClr val="2FB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1"/>
          <p:cNvGrpSpPr/>
          <p:nvPr/>
        </p:nvGrpSpPr>
        <p:grpSpPr>
          <a:xfrm>
            <a:off x="424103" y="448020"/>
            <a:ext cx="567000" cy="567000"/>
            <a:chOff x="566928" y="502920"/>
            <a:chExt cx="567000" cy="567000"/>
          </a:xfrm>
        </p:grpSpPr>
        <p:sp>
          <p:nvSpPr>
            <p:cNvPr id="34" name="Google Shape;34;p1"/>
            <p:cNvSpPr/>
            <p:nvPr/>
          </p:nvSpPr>
          <p:spPr>
            <a:xfrm>
              <a:off x="566928" y="502920"/>
              <a:ext cx="567000" cy="567000"/>
            </a:xfrm>
            <a:prstGeom prst="ellipse">
              <a:avLst/>
            </a:prstGeom>
            <a:solidFill>
              <a:srgbClr val="22BB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13232" y="649224"/>
              <a:ext cx="274200" cy="274200"/>
            </a:xfrm>
            <a:prstGeom prst="ellipse">
              <a:avLst/>
            </a:prstGeom>
            <a:solidFill>
              <a:srgbClr val="1723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HOW I APPROACHED THIS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lang="en-US" sz="29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Approach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965960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77240" y="2139696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3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58952" y="212140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17320" y="20665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550"/>
              <a:buFont typeface="Poppins"/>
              <a:buNone/>
            </a:pPr>
            <a:r>
              <a:rPr b="1" lang="en-US" sz="1550">
                <a:solidFill>
                  <a:srgbClr val="0B1C33"/>
                </a:solidFill>
                <a:latin typeface="Poppins"/>
                <a:ea typeface="Poppins"/>
                <a:cs typeface="Poppins"/>
                <a:sym typeface="Poppins"/>
              </a:rPr>
              <a:t>Where Aquablu is going</a:t>
            </a:r>
            <a:endParaRPr b="1" sz="1500">
              <a:solidFill>
                <a:srgbClr val="1B2A4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0" y="2066544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Anchor in where Aquablu is going, and</a:t>
            </a:r>
            <a:r>
              <a:rPr lang="en-US" sz="13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use it to select a</a:t>
            </a:r>
            <a:r>
              <a:rPr b="0" i="0" lang="en-US" sz="13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workflow.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2852928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77240" y="3026664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58952" y="300837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17320" y="295351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Discovery &amp;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0" y="2953512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What CS actually does  and the one workflow worth attacking.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3739896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77240" y="3913632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DEE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58952" y="38953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52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F5952B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17320" y="38404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Outcomes &amp; KPIs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0" y="38404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13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are the target outcomes and how will we track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8640" y="4626864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77240" y="4800600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3F7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58952" y="47823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BF74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FBF74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417320" y="47274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500"/>
              <a:buFont typeface="Poppins"/>
              <a:buNone/>
            </a:pPr>
            <a:r>
              <a:rPr b="1" lang="en-US" sz="15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Demo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72000" y="4727448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 clickable Pulse workspace, running on mock data.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48640" y="5513832"/>
            <a:ext cx="1106424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777240" y="5687568"/>
            <a:ext cx="402336" cy="40233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DE7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58952" y="56692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A3B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E94A3B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417320" y="561441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Adopt &amp; next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572000" y="5614416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What does adoption look like and what comes next.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ANCHOR IN THE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i="0" lang="en-US" sz="29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Where Aquablu is </a:t>
            </a:r>
            <a:r>
              <a:rPr b="1" lang="en-US" sz="29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headed 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192024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49808" y="212140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€100M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49808" y="272491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revenue by 2028 — with fewer than 100 people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319272" y="192024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319276" y="2121400"/>
            <a:ext cx="248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 Office </a:t>
            </a:r>
            <a:r>
              <a:rPr b="1" lang="en-US" sz="2100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1" lang="en-US" sz="2200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b="1" i="0" lang="en-US" sz="2200" u="none" cap="none" strike="noStrike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lobal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520440" y="272491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the 2026 shift: REFILL+, BOLD &amp; AURA as one ecosystem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089904" y="192024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291072" y="212140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52B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F5952B"/>
                </a:solidFill>
                <a:latin typeface="Poppins"/>
                <a:ea typeface="Poppins"/>
                <a:cs typeface="Poppins"/>
                <a:sym typeface="Poppins"/>
              </a:rPr>
              <a:t>AI-native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91072" y="272491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"AI is how we build" — run the company on AURA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860536" y="1920240"/>
            <a:ext cx="2670048" cy="16002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9061704" y="212140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F74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2FBF74"/>
                </a:solidFill>
                <a:latin typeface="Poppins"/>
                <a:ea typeface="Poppins"/>
                <a:cs typeface="Poppins"/>
                <a:sym typeface="Poppins"/>
              </a:rPr>
              <a:t>300%+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061704" y="2724912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YoY growth, three years running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fmla="val 10526" name="adj"/>
            </a:avLst>
          </a:prstGeom>
          <a:solidFill>
            <a:srgbClr val="1B2A4E"/>
          </a:solidFill>
          <a:ln cap="flat" cmpd="sng" w="12700">
            <a:solidFill>
              <a:srgbClr val="1B2A4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417320" y="3794760"/>
            <a:ext cx="10058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150"/>
              <a:buFont typeface="Poppins"/>
              <a:buNone/>
            </a:pPr>
            <a:r>
              <a:rPr b="1" i="0" lang="en-US" sz="1150" u="none" cap="none" strike="noStrike">
                <a:solidFill>
                  <a:srgbClr val="22C0E8"/>
                </a:solidFill>
                <a:latin typeface="Poppins"/>
                <a:ea typeface="Poppins"/>
                <a:cs typeface="Poppins"/>
                <a:sym typeface="Poppins"/>
              </a:rPr>
              <a:t>NORTH STAR  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Hydrate a billion people to thrive — and save a billion </a:t>
            </a:r>
            <a:r>
              <a:rPr b="1" lang="en-U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single</a:t>
            </a: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-use plastic bottles by 2030.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E3F7FD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77240" y="5074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TOP 2026 OBJECTIVE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777240" y="530352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Maximise ARR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663440" y="507492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lean + global is possible </a:t>
            </a:r>
            <a:r>
              <a:rPr lang="en-US" sz="125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AURA automates operations → so CS </a:t>
            </a:r>
            <a:r>
              <a:rPr lang="en-US" sz="125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scale without adding headcount → workflow </a:t>
            </a:r>
            <a:r>
              <a:rPr lang="en-US" sz="125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should enable CS</a:t>
            </a: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to grow and protect recurring revenue with less manual effort.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DISCOVERY + </a:t>
            </a:r>
            <a:r>
              <a:rPr b="1" lang="en-US" sz="1100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PROBLEM FRAMING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48640" y="822960"/>
            <a:ext cx="11338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i="0" lang="en-US" sz="29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What CS does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010400" y="1570575"/>
            <a:ext cx="4551600" cy="3337500"/>
          </a:xfrm>
          <a:prstGeom prst="roundRect">
            <a:avLst>
              <a:gd fmla="val 2740" name="adj"/>
            </a:avLst>
          </a:prstGeom>
          <a:solidFill>
            <a:srgbClr val="1B2A4E"/>
          </a:solidFill>
          <a:ln cap="flat" cmpd="sng" w="12700">
            <a:solidFill>
              <a:srgbClr val="1B2A4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234254" y="1844895"/>
            <a:ext cx="373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150"/>
              <a:buFont typeface="Poppins"/>
              <a:buNone/>
            </a:pPr>
            <a:r>
              <a:rPr b="1" i="0" lang="en-US" sz="1150" u="none" cap="none" strike="noStrike">
                <a:solidFill>
                  <a:srgbClr val="22C0E8"/>
                </a:solidFill>
                <a:latin typeface="Poppins"/>
                <a:ea typeface="Poppins"/>
                <a:cs typeface="Poppins"/>
                <a:sym typeface="Poppins"/>
              </a:rPr>
              <a:t>THE INSIGHT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234254" y="2146647"/>
            <a:ext cx="41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Usage is revenue.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234254" y="2896455"/>
            <a:ext cx="4104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9D3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In pay-per-drink, a site's dispense volume IS its revenue line. So when usage drops, ARR is already leaking</a:t>
            </a:r>
            <a:r>
              <a:rPr lang="en-US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0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 before any ticket, before the renewal conversation.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234254" y="3948015"/>
            <a:ext cx="4104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C9D3E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That makes a usage-decline alert a </a:t>
            </a:r>
            <a:r>
              <a:rPr b="1" i="0" lang="en-US" sz="1350" u="none" cap="none" strike="noStrike">
                <a:solidFill>
                  <a:srgbClr val="22C0E8"/>
                </a:solidFill>
                <a:latin typeface="Calibri"/>
                <a:ea typeface="Calibri"/>
                <a:cs typeface="Calibri"/>
                <a:sym typeface="Calibri"/>
              </a:rPr>
              <a:t> revenue signal</a:t>
            </a:r>
            <a:r>
              <a:rPr b="0" i="0" lang="en-US" sz="135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 not just an engagement metric.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010400" y="5018126"/>
            <a:ext cx="4602600" cy="1293600"/>
          </a:xfrm>
          <a:prstGeom prst="roundRect">
            <a:avLst>
              <a:gd fmla="val 13889" name="adj"/>
            </a:avLst>
          </a:prstGeom>
          <a:solidFill>
            <a:srgbClr val="FDE7E3"/>
          </a:solidFill>
          <a:ln cap="flat" cmpd="sng" w="12700">
            <a:solidFill>
              <a:srgbClr val="F6D4C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105492" y="5018126"/>
            <a:ext cx="44124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E94A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A3B"/>
                </a:solidFill>
                <a:latin typeface="Calibri"/>
                <a:ea typeface="Calibri"/>
                <a:cs typeface="Calibri"/>
                <a:sym typeface="Calibri"/>
              </a:rPr>
              <a:t>The pain today:  </a:t>
            </a: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assessing one account's health means manually joining four tools — CRM (value, renewal), AURA (usage), ticketing (issues), a spreadsheet (watchlist). The context lives in the CSM's head, not in any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37550" y="1570575"/>
            <a:ext cx="5943600" cy="4741200"/>
          </a:xfrm>
          <a:prstGeom prst="roundRect">
            <a:avLst>
              <a:gd fmla="val 2069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11875" y="17534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450"/>
              <a:buFont typeface="Poppins"/>
              <a:buNone/>
            </a:pPr>
            <a:r>
              <a:rPr b="1" i="0" lang="en-US" sz="1450" u="none" cap="none" strike="noStrike">
                <a:solidFill>
                  <a:srgbClr val="0B1C33"/>
                </a:solidFill>
                <a:latin typeface="Poppins"/>
                <a:ea typeface="Poppins"/>
                <a:cs typeface="Poppins"/>
                <a:sym typeface="Poppins"/>
              </a:rPr>
              <a:t>One task</a:t>
            </a:r>
            <a:r>
              <a:rPr b="1" lang="en-US" sz="1450">
                <a:solidFill>
                  <a:srgbClr val="0B1C33"/>
                </a:solidFill>
                <a:latin typeface="Poppins"/>
                <a:ea typeface="Poppins"/>
                <a:cs typeface="Poppins"/>
                <a:sym typeface="Poppins"/>
              </a:rPr>
              <a:t> across </a:t>
            </a:r>
            <a:r>
              <a:rPr b="1" i="0" lang="en-US" sz="1450" u="none" cap="none" strike="noStrike">
                <a:solidFill>
                  <a:srgbClr val="0B1C33"/>
                </a:solidFill>
                <a:latin typeface="Poppins"/>
                <a:ea typeface="Poppins"/>
                <a:cs typeface="Poppins"/>
                <a:sym typeface="Poppins"/>
              </a:rPr>
              <a:t>four tools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11875" y="2119220"/>
            <a:ext cx="5394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5B6572"/>
                </a:solidFill>
              </a:rPr>
              <a:t>Caring</a:t>
            </a:r>
            <a:r>
              <a:rPr lang="en-US" sz="1150">
                <a:solidFill>
                  <a:srgbClr val="5B6572"/>
                </a:solidFill>
              </a:rPr>
              <a:t> out a task</a:t>
            </a: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 means manually joining information across all four</a:t>
            </a:r>
            <a:r>
              <a:rPr lang="en-US" sz="1150">
                <a:solidFill>
                  <a:srgbClr val="5B6572"/>
                </a:solidFill>
              </a:rPr>
              <a:t>.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11875" y="2850740"/>
            <a:ext cx="1206900" cy="1051500"/>
          </a:xfrm>
          <a:prstGeom prst="roundRect">
            <a:avLst>
              <a:gd fmla="val 7826" name="adj"/>
            </a:avLst>
          </a:prstGeom>
          <a:solidFill>
            <a:srgbClr val="F3F5F9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957595" y="2942180"/>
            <a:ext cx="111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CRM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57595" y="3216500"/>
            <a:ext cx="111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Contract value,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renewal date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1515379" y="3902300"/>
            <a:ext cx="0" cy="320100"/>
          </a:xfrm>
          <a:prstGeom prst="straightConnector1">
            <a:avLst/>
          </a:prstGeom>
          <a:noFill/>
          <a:ln cap="flat" cmpd="sng" w="19050">
            <a:solidFill>
              <a:srgbClr val="2FB8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0" name="Google Shape;120;p5"/>
          <p:cNvSpPr/>
          <p:nvPr/>
        </p:nvSpPr>
        <p:spPr>
          <a:xfrm>
            <a:off x="2210323" y="2850740"/>
            <a:ext cx="1206900" cy="1051500"/>
          </a:xfrm>
          <a:prstGeom prst="roundRect">
            <a:avLst>
              <a:gd fmla="val 7826" name="adj"/>
            </a:avLst>
          </a:prstGeom>
          <a:solidFill>
            <a:srgbClr val="F3F5F9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2256043" y="2942180"/>
            <a:ext cx="111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256043" y="3216500"/>
            <a:ext cx="111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Usage &amp;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telemetry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>
            <a:off x="2813827" y="3902300"/>
            <a:ext cx="0" cy="320100"/>
          </a:xfrm>
          <a:prstGeom prst="straightConnector1">
            <a:avLst/>
          </a:prstGeom>
          <a:noFill/>
          <a:ln cap="flat" cmpd="sng" w="19050">
            <a:solidFill>
              <a:srgbClr val="2FB8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Google Shape;124;p5"/>
          <p:cNvSpPr/>
          <p:nvPr/>
        </p:nvSpPr>
        <p:spPr>
          <a:xfrm>
            <a:off x="3508771" y="2850740"/>
            <a:ext cx="1206900" cy="1051500"/>
          </a:xfrm>
          <a:prstGeom prst="roundRect">
            <a:avLst>
              <a:gd fmla="val 7826" name="adj"/>
            </a:avLst>
          </a:prstGeom>
          <a:solidFill>
            <a:srgbClr val="F3F5F9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554491" y="2942180"/>
            <a:ext cx="111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Ticketing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554491" y="3216500"/>
            <a:ext cx="111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Open issues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4112275" y="3902300"/>
            <a:ext cx="0" cy="320100"/>
          </a:xfrm>
          <a:prstGeom prst="straightConnector1">
            <a:avLst/>
          </a:prstGeom>
          <a:noFill/>
          <a:ln cap="flat" cmpd="sng" w="19050">
            <a:solidFill>
              <a:srgbClr val="2FB8E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4807219" y="2850740"/>
            <a:ext cx="1206900" cy="1051500"/>
          </a:xfrm>
          <a:prstGeom prst="roundRect">
            <a:avLst>
              <a:gd fmla="val 7826" name="adj"/>
            </a:avLst>
          </a:prstGeom>
          <a:solidFill>
            <a:srgbClr val="F3F5F9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852939" y="2942180"/>
            <a:ext cx="111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Spreadsheet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852939" y="3216500"/>
            <a:ext cx="1115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Manual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watchlist</a:t>
            </a:r>
            <a:endParaRPr b="0" i="0" sz="8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5410723" y="3902300"/>
            <a:ext cx="0" cy="320100"/>
          </a:xfrm>
          <a:prstGeom prst="straightConnector1">
            <a:avLst/>
          </a:prstGeom>
          <a:noFill/>
          <a:ln cap="flat" cmpd="sng" w="19050">
            <a:solidFill>
              <a:srgbClr val="2FB8E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32" name="Google Shape;132;p5"/>
          <p:cNvCxnSpPr/>
          <p:nvPr/>
        </p:nvCxnSpPr>
        <p:spPr>
          <a:xfrm>
            <a:off x="911875" y="4222340"/>
            <a:ext cx="5212200" cy="0"/>
          </a:xfrm>
          <a:prstGeom prst="straightConnector1">
            <a:avLst/>
          </a:prstGeom>
          <a:noFill/>
          <a:ln cap="flat" cmpd="sng" w="19050">
            <a:solidFill>
              <a:srgbClr val="2FB8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3243595" y="4341212"/>
            <a:ext cx="502800" cy="502800"/>
          </a:xfrm>
          <a:prstGeom prst="ellipse">
            <a:avLst/>
          </a:prstGeom>
          <a:solidFill>
            <a:srgbClr val="0B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243595" y="434121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1875" y="4908140"/>
            <a:ext cx="5212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5B6572"/>
                </a:solidFill>
              </a:rPr>
              <a:t>Context collected by a CSM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527175" y="5374475"/>
            <a:ext cx="380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B6572"/>
                </a:solidFill>
              </a:rPr>
              <a:t>Onboarding </a:t>
            </a:r>
            <a:r>
              <a:rPr i="1" lang="en-US" sz="1100">
                <a:solidFill>
                  <a:srgbClr val="1AA3C9"/>
                </a:solidFill>
              </a:rPr>
              <a:t>→ </a:t>
            </a:r>
            <a:r>
              <a:rPr i="1" lang="en-US" sz="1100">
                <a:solidFill>
                  <a:srgbClr val="5B6572"/>
                </a:solidFill>
              </a:rPr>
              <a:t>adoption </a:t>
            </a:r>
            <a:r>
              <a:rPr i="1" lang="en-US" sz="1100">
                <a:solidFill>
                  <a:srgbClr val="1AA3C9"/>
                </a:solidFill>
              </a:rPr>
              <a:t>→</a:t>
            </a:r>
            <a:r>
              <a:rPr i="1" lang="en-US" sz="1100">
                <a:solidFill>
                  <a:srgbClr val="5B6572"/>
                </a:solidFill>
              </a:rPr>
              <a:t> support </a:t>
            </a:r>
            <a:r>
              <a:rPr i="1" lang="en-US" sz="1100">
                <a:solidFill>
                  <a:srgbClr val="1AA3C9"/>
                </a:solidFill>
              </a:rPr>
              <a:t>→</a:t>
            </a:r>
            <a:r>
              <a:rPr i="1" lang="en-US" sz="1100">
                <a:solidFill>
                  <a:srgbClr val="5B6572"/>
                </a:solidFill>
              </a:rPr>
              <a:t> ESG reporting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2573550" y="57284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B6572"/>
                </a:solidFill>
              </a:rPr>
              <a:t>     </a:t>
            </a:r>
            <a:r>
              <a:rPr i="1" lang="en-US" sz="1100">
                <a:solidFill>
                  <a:srgbClr val="5B6572"/>
                </a:solidFill>
              </a:rPr>
              <a:t>renewals  </a:t>
            </a:r>
            <a:endParaRPr/>
          </a:p>
        </p:txBody>
      </p:sp>
      <p:cxnSp>
        <p:nvCxnSpPr>
          <p:cNvPr id="138" name="Google Shape;138;p5"/>
          <p:cNvCxnSpPr>
            <a:endCxn id="136" idx="3"/>
          </p:cNvCxnSpPr>
          <p:nvPr/>
        </p:nvCxnSpPr>
        <p:spPr>
          <a:xfrm flipH="1" rot="10800000">
            <a:off x="4546675" y="5551475"/>
            <a:ext cx="786600" cy="392100"/>
          </a:xfrm>
          <a:prstGeom prst="curvedConnector3">
            <a:avLst>
              <a:gd fmla="val 130273" name="adj1"/>
            </a:avLst>
          </a:prstGeom>
          <a:noFill/>
          <a:ln cap="flat" cmpd="sng" w="9525">
            <a:solidFill>
              <a:srgbClr val="1AA3C9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" name="Google Shape;139;p5"/>
          <p:cNvCxnSpPr>
            <a:endCxn id="136" idx="2"/>
          </p:cNvCxnSpPr>
          <p:nvPr/>
        </p:nvCxnSpPr>
        <p:spPr>
          <a:xfrm rot="10800000">
            <a:off x="3430225" y="5728475"/>
            <a:ext cx="402000" cy="196200"/>
          </a:xfrm>
          <a:prstGeom prst="curvedConnector2">
            <a:avLst/>
          </a:prstGeom>
          <a:noFill/>
          <a:ln cap="flat" cmpd="sng" w="9525">
            <a:solidFill>
              <a:srgbClr val="1AA3C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" name="Google Shape;140;p5"/>
          <p:cNvSpPr/>
          <p:nvPr/>
        </p:nvSpPr>
        <p:spPr>
          <a:xfrm>
            <a:off x="1016000" y="5351825"/>
            <a:ext cx="5108100" cy="730500"/>
          </a:xfrm>
          <a:prstGeom prst="rect">
            <a:avLst/>
          </a:prstGeom>
          <a:noFill/>
          <a:ln cap="flat" cmpd="sng" w="9525">
            <a:solidFill>
              <a:srgbClr val="1AA3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lang="en-US" sz="1100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DISCOVERY</a:t>
            </a:r>
            <a:endParaRPr b="1" sz="1100">
              <a:solidFill>
                <a:srgbClr val="12A4C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lang="en-US" sz="29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Which workflow to tackle?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378725" y="1361675"/>
            <a:ext cx="4490700" cy="11202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533663" y="1535919"/>
            <a:ext cx="4206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Scales without headcount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7533663" y="1871959"/>
            <a:ext cx="4251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€100M with &lt;100 people means automation-heavy — not manual work rearranged.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378726" y="3850878"/>
            <a:ext cx="4490700" cy="11202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533665" y="4025119"/>
            <a:ext cx="4206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Works across geographies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533665" y="4361159"/>
            <a:ext cx="4251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10+ new countries with no local presence — remote-first, no on-site dependency.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7378725" y="2606272"/>
            <a:ext cx="4490700" cy="11202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7533663" y="2780514"/>
            <a:ext cx="4206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Proactive, not reactive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533663" y="3116554"/>
            <a:ext cx="4251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300% growth outpaces ticket-handling — catch issues before the customer feels them.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378726" y="5095475"/>
            <a:ext cx="4490700" cy="11202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7533665" y="5269714"/>
            <a:ext cx="42063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Built on data already in AURA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533665" y="5605754"/>
            <a:ext cx="4251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Telemetry, usage and service state already stream — surface it, don't recapture 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10173" y="1524000"/>
            <a:ext cx="22167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Candidate CS workflow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880717" y="1524000"/>
            <a:ext cx="675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Scales w/o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headcount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610535" y="1524000"/>
            <a:ext cx="621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Geo-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agnostic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286291" y="1524000"/>
            <a:ext cx="567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Pro-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907988" y="1524000"/>
            <a:ext cx="6216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Data in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AURA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583745" y="1524000"/>
            <a:ext cx="8163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ARR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93A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8A93A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66925" y="2321920"/>
            <a:ext cx="6519600" cy="6753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894AA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664234" y="2321920"/>
            <a:ext cx="216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7233D"/>
                </a:solidFill>
                <a:latin typeface="Calibri"/>
                <a:ea typeface="Calibri"/>
                <a:cs typeface="Calibri"/>
                <a:sym typeface="Calibri"/>
              </a:rPr>
              <a:t>Onboarding / install orchestration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2837469" y="2321920"/>
            <a:ext cx="7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493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1600" u="none" cap="none" strike="noStrike">
              <a:solidFill>
                <a:srgbClr val="E849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567286" y="2321920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9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493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243043" y="2321920"/>
            <a:ext cx="621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52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600" u="none" cap="none" strike="noStrike">
              <a:solidFill>
                <a:srgbClr val="F595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864739" y="2321920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52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600" u="none" cap="none" strike="noStrike">
              <a:solidFill>
                <a:srgbClr val="F595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540496" y="2321920"/>
            <a:ext cx="870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9C0CD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66925" y="3078921"/>
            <a:ext cx="6519600" cy="6753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894AA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64234" y="3078921"/>
            <a:ext cx="216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7233D"/>
                </a:solidFill>
                <a:latin typeface="Calibri"/>
                <a:ea typeface="Calibri"/>
                <a:cs typeface="Calibri"/>
                <a:sym typeface="Calibri"/>
              </a:rPr>
              <a:t>Reactive support &amp; ticketing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837469" y="3078921"/>
            <a:ext cx="7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567286" y="3078921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243043" y="3078921"/>
            <a:ext cx="621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93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493A"/>
                </a:solidFill>
                <a:latin typeface="Calibri"/>
                <a:ea typeface="Calibri"/>
                <a:cs typeface="Calibri"/>
                <a:sym typeface="Calibri"/>
              </a:rPr>
              <a:t>×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864739" y="3078921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540496" y="3078921"/>
            <a:ext cx="870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9C0CD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66925" y="3835922"/>
            <a:ext cx="6519600" cy="6753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894AA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64234" y="3835922"/>
            <a:ext cx="216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7233D"/>
                </a:solidFill>
                <a:latin typeface="Calibri"/>
                <a:ea typeface="Calibri"/>
                <a:cs typeface="Calibri"/>
                <a:sym typeface="Calibri"/>
              </a:rPr>
              <a:t>Consumable reorder / replenishment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2837469" y="3835922"/>
            <a:ext cx="7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567286" y="3835922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243043" y="3835922"/>
            <a:ext cx="621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864739" y="3835922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540496" y="3835922"/>
            <a:ext cx="870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9C0CD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66925" y="4592924"/>
            <a:ext cx="6519600" cy="675300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894AA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664234" y="4592924"/>
            <a:ext cx="216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7233D"/>
                </a:solidFill>
                <a:latin typeface="Calibri"/>
                <a:ea typeface="Calibri"/>
                <a:cs typeface="Calibri"/>
                <a:sym typeface="Calibri"/>
              </a:rPr>
              <a:t>ESG / QBR value reporting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2837469" y="4592924"/>
            <a:ext cx="7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52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600" u="none" cap="none" strike="noStrike">
              <a:solidFill>
                <a:srgbClr val="F595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567286" y="4592924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243043" y="4592924"/>
            <a:ext cx="621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52B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600" u="none" cap="none" strike="noStrike">
              <a:solidFill>
                <a:srgbClr val="F595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4864739" y="4592924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540496" y="4592924"/>
            <a:ext cx="870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0C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B9C0CD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566925" y="5349925"/>
            <a:ext cx="6519600" cy="675300"/>
          </a:xfrm>
          <a:prstGeom prst="roundRect">
            <a:avLst>
              <a:gd fmla="val 18182" name="adj"/>
            </a:avLst>
          </a:prstGeom>
          <a:solidFill>
            <a:srgbClr val="EAF7F0"/>
          </a:solidFill>
          <a:ln>
            <a:noFill/>
          </a:ln>
          <a:effectLst>
            <a:outerShdw blurRad="114300" rotWithShape="0" algn="bl" dir="5400000" dist="38100">
              <a:srgbClr val="8894AA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566925" y="5349925"/>
            <a:ext cx="6519600" cy="675300"/>
          </a:xfrm>
          <a:prstGeom prst="roundRect">
            <a:avLst>
              <a:gd fmla="val 15152" name="adj"/>
            </a:avLst>
          </a:prstGeom>
          <a:noFill/>
          <a:ln cap="flat" cmpd="sng" w="19050">
            <a:solidFill>
              <a:srgbClr val="57C0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664234" y="5349925"/>
            <a:ext cx="216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3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7233D"/>
                </a:solidFill>
                <a:latin typeface="Calibri"/>
                <a:ea typeface="Calibri"/>
                <a:cs typeface="Calibri"/>
                <a:sym typeface="Calibri"/>
              </a:rPr>
              <a:t>Account health → revenue-risk &amp; expansion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2837469" y="5349925"/>
            <a:ext cx="729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567286" y="5349925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4243043" y="5349925"/>
            <a:ext cx="621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4864739" y="5349925"/>
            <a:ext cx="6759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540496" y="5349925"/>
            <a:ext cx="8703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C08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7C084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3da869bca_0_87"/>
          <p:cNvSpPr/>
          <p:nvPr/>
        </p:nvSpPr>
        <p:spPr>
          <a:xfrm>
            <a:off x="50292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3da869bca_0_87"/>
          <p:cNvSpPr/>
          <p:nvPr/>
        </p:nvSpPr>
        <p:spPr>
          <a:xfrm>
            <a:off x="11247120" y="641908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3da869bca_0_87"/>
          <p:cNvSpPr/>
          <p:nvPr/>
        </p:nvSpPr>
        <p:spPr>
          <a:xfrm>
            <a:off x="548640" y="50292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ASSUMPTIONS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3da869bca_0_87"/>
          <p:cNvSpPr/>
          <p:nvPr/>
        </p:nvSpPr>
        <p:spPr>
          <a:xfrm>
            <a:off x="548640" y="777240"/>
            <a:ext cx="11155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17233D"/>
                </a:solidFill>
                <a:latin typeface="Poppins"/>
                <a:ea typeface="Poppins"/>
                <a:cs typeface="Poppins"/>
                <a:sym typeface="Poppins"/>
              </a:rPr>
              <a:t>ASSUMPTIONS</a:t>
            </a:r>
            <a:r>
              <a:rPr b="1" i="0" lang="en-US" sz="2700" u="none" cap="none" strike="noStrike">
                <a:solidFill>
                  <a:srgbClr val="17233D"/>
                </a:solidFill>
                <a:latin typeface="Poppins"/>
                <a:ea typeface="Poppins"/>
                <a:cs typeface="Poppins"/>
                <a:sym typeface="Poppins"/>
              </a:rPr>
              <a:t> — and how I’d validate it</a:t>
            </a:r>
            <a:endParaRPr b="0" i="0" sz="2700" u="none" cap="none" strike="noStrike">
              <a:solidFill>
                <a:srgbClr val="17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3da869bca_0_87"/>
          <p:cNvSpPr/>
          <p:nvPr/>
        </p:nvSpPr>
        <p:spPr>
          <a:xfrm>
            <a:off x="898873" y="1691650"/>
            <a:ext cx="700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ASSUMPTION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3da869bca_0_87"/>
          <p:cNvSpPr/>
          <p:nvPr/>
        </p:nvSpPr>
        <p:spPr>
          <a:xfrm>
            <a:off x="7339254" y="1691650"/>
            <a:ext cx="373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HOW I’D VALIDATE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3da869bca_0_87"/>
          <p:cNvSpPr/>
          <p:nvPr/>
        </p:nvSpPr>
        <p:spPr>
          <a:xfrm>
            <a:off x="548651" y="2084834"/>
            <a:ext cx="10698600" cy="73140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3da869bca_0_87"/>
          <p:cNvSpPr/>
          <p:nvPr/>
        </p:nvSpPr>
        <p:spPr>
          <a:xfrm>
            <a:off x="898864" y="2176283"/>
            <a:ext cx="571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CS </a:t>
            </a:r>
            <a:r>
              <a:rPr b="1" lang="en-US" sz="125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moves</a:t>
            </a:r>
            <a:r>
              <a:rPr b="1" i="0" lang="en-US" sz="125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 across 4+ tools for one account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3da869bca_0_87"/>
          <p:cNvSpPr/>
          <p:nvPr/>
        </p:nvSpPr>
        <p:spPr>
          <a:xfrm>
            <a:off x="7339254" y="2176280"/>
            <a:ext cx="361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Ask and Observe how CS performs task and </a:t>
            </a:r>
            <a:r>
              <a:rPr lang="en-US" sz="11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1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 they spend the most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3da869bca_0_87"/>
          <p:cNvSpPr/>
          <p:nvPr/>
        </p:nvSpPr>
        <p:spPr>
          <a:xfrm>
            <a:off x="548651" y="2907790"/>
            <a:ext cx="10698600" cy="73140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3da869bca_0_87"/>
          <p:cNvSpPr/>
          <p:nvPr/>
        </p:nvSpPr>
        <p:spPr>
          <a:xfrm>
            <a:off x="898864" y="2999231"/>
            <a:ext cx="571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AURA’s data is rich enough for health scoring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3da869bca_0_87"/>
          <p:cNvSpPr/>
          <p:nvPr/>
        </p:nvSpPr>
        <p:spPr>
          <a:xfrm>
            <a:off x="7339254" y="2999238"/>
            <a:ext cx="361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Audit the actual schema before designing </a:t>
            </a:r>
            <a:r>
              <a:rPr lang="en-US" sz="11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data infrastructure and UI.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3da869bca_0_87"/>
          <p:cNvSpPr/>
          <p:nvPr/>
        </p:nvSpPr>
        <p:spPr>
          <a:xfrm>
            <a:off x="548651" y="3730746"/>
            <a:ext cx="10698600" cy="73140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3da869bca_0_87"/>
          <p:cNvSpPr/>
          <p:nvPr/>
        </p:nvSpPr>
        <p:spPr>
          <a:xfrm>
            <a:off x="898864" y="3822203"/>
            <a:ext cx="571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 usage dip is a leading churn indicator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3da869bca_0_87"/>
          <p:cNvSpPr/>
          <p:nvPr/>
        </p:nvSpPr>
        <p:spPr>
          <a:xfrm>
            <a:off x="7339254" y="3822195"/>
            <a:ext cx="361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Back-test the signal against past non-renewals.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3da869bca_0_87"/>
          <p:cNvSpPr/>
          <p:nvPr/>
        </p:nvSpPr>
        <p:spPr>
          <a:xfrm>
            <a:off x="548651" y="4553702"/>
            <a:ext cx="10698600" cy="731400"/>
          </a:xfrm>
          <a:prstGeom prst="roundRect">
            <a:avLst>
              <a:gd fmla="val 11250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3da869bca_0_87"/>
          <p:cNvSpPr/>
          <p:nvPr/>
        </p:nvSpPr>
        <p:spPr>
          <a:xfrm>
            <a:off x="898864" y="4645151"/>
            <a:ext cx="571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CSMs adopt if it’s genuinely better + old tool sunset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3da869bca_0_87"/>
          <p:cNvSpPr/>
          <p:nvPr/>
        </p:nvSpPr>
        <p:spPr>
          <a:xfrm>
            <a:off x="7339254" y="4645153"/>
            <a:ext cx="361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Power-user design partners + a real sunset date.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3da869bca_0_173"/>
          <p:cNvSpPr/>
          <p:nvPr/>
        </p:nvSpPr>
        <p:spPr>
          <a:xfrm>
            <a:off x="640063" y="457200"/>
            <a:ext cx="731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FB8E6"/>
                </a:solidFill>
                <a:latin typeface="Arial"/>
                <a:ea typeface="Arial"/>
                <a:cs typeface="Arial"/>
                <a:sym typeface="Arial"/>
              </a:rPr>
              <a:t>PROBLEM DISCOVERY — THE CHOSEN WORKFLOW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3da869bca_0_173"/>
          <p:cNvSpPr/>
          <p:nvPr/>
        </p:nvSpPr>
        <p:spPr>
          <a:xfrm>
            <a:off x="640063" y="749808"/>
            <a:ext cx="10881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17233D"/>
                </a:solidFill>
                <a:latin typeface="Poppins"/>
                <a:ea typeface="Poppins"/>
                <a:cs typeface="Poppins"/>
                <a:sym typeface="Poppins"/>
              </a:rPr>
              <a:t>Account Health &amp; Renewal Radar</a:t>
            </a:r>
            <a:endParaRPr b="0" i="0" sz="3000" u="none" cap="none" strike="noStrike">
              <a:solidFill>
                <a:srgbClr val="1723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3da869bca_0_173"/>
          <p:cNvSpPr/>
          <p:nvPr/>
        </p:nvSpPr>
        <p:spPr>
          <a:xfrm>
            <a:off x="640063" y="1874520"/>
            <a:ext cx="10881000" cy="301740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>
            <a:noFill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1C33"/>
              </a:solidFill>
            </a:endParaRPr>
          </a:p>
        </p:txBody>
      </p:sp>
      <p:sp>
        <p:nvSpPr>
          <p:cNvPr id="235" name="Google Shape;235;g3f3da869bca_0_173"/>
          <p:cNvSpPr/>
          <p:nvPr/>
        </p:nvSpPr>
        <p:spPr>
          <a:xfrm>
            <a:off x="960094" y="2148840"/>
            <a:ext cx="102411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E3F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CSM needs to know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accounts are at risk of churn — or ripe for expansion — before the renewal date arrives.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Today, that requires manually checking Aura's usage dashboard, the CRM for contract dates, the ticketing tool for open issues, and a personal spreadsheet to track outreach — a process that misses early warning signs and lets renewals arrive unannounced.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3da869bca_0_173"/>
          <p:cNvSpPr/>
          <p:nvPr/>
        </p:nvSpPr>
        <p:spPr>
          <a:xfrm>
            <a:off x="640063" y="5212080"/>
            <a:ext cx="3502200" cy="868800"/>
          </a:xfrm>
          <a:prstGeom prst="roundRect">
            <a:avLst>
              <a:gd fmla="val 94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3da869bca_0_173"/>
          <p:cNvSpPr/>
          <p:nvPr/>
        </p:nvSpPr>
        <p:spPr>
          <a:xfrm>
            <a:off x="841226" y="53035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B8E6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3da869bca_0_173"/>
          <p:cNvSpPr/>
          <p:nvPr/>
        </p:nvSpPr>
        <p:spPr>
          <a:xfrm>
            <a:off x="841226" y="5559552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CSMs &amp; CS leadership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3da869bca_0_173"/>
          <p:cNvSpPr/>
          <p:nvPr/>
        </p:nvSpPr>
        <p:spPr>
          <a:xfrm>
            <a:off x="4324997" y="5212080"/>
            <a:ext cx="3502200" cy="868800"/>
          </a:xfrm>
          <a:prstGeom prst="roundRect">
            <a:avLst>
              <a:gd fmla="val 94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3da869bca_0_173"/>
          <p:cNvSpPr/>
          <p:nvPr/>
        </p:nvSpPr>
        <p:spPr>
          <a:xfrm>
            <a:off x="4526159" y="53035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B8E6"/>
                </a:solidFill>
                <a:latin typeface="Arial"/>
                <a:ea typeface="Arial"/>
                <a:cs typeface="Arial"/>
                <a:sym typeface="Arial"/>
              </a:rPr>
              <a:t>TRIGGER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f3da869bca_0_173"/>
          <p:cNvSpPr/>
          <p:nvPr/>
        </p:nvSpPr>
        <p:spPr>
          <a:xfrm>
            <a:off x="4526159" y="5559552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Usage drop, service error, or renewal window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3da869bca_0_173"/>
          <p:cNvSpPr/>
          <p:nvPr/>
        </p:nvSpPr>
        <p:spPr>
          <a:xfrm>
            <a:off x="8009930" y="5212080"/>
            <a:ext cx="3502200" cy="868800"/>
          </a:xfrm>
          <a:prstGeom prst="roundRect">
            <a:avLst>
              <a:gd fmla="val 947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3da869bca_0_173"/>
          <p:cNvSpPr/>
          <p:nvPr/>
        </p:nvSpPr>
        <p:spPr>
          <a:xfrm>
            <a:off x="8211093" y="5303520"/>
            <a:ext cx="310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B8E6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3da869bca_0_173"/>
          <p:cNvSpPr/>
          <p:nvPr/>
        </p:nvSpPr>
        <p:spPr>
          <a:xfrm>
            <a:off x="8211093" y="5559552"/>
            <a:ext cx="3108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tools, no shared source of truth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3da869bca_0_173"/>
          <p:cNvSpPr/>
          <p:nvPr/>
        </p:nvSpPr>
        <p:spPr>
          <a:xfrm>
            <a:off x="10728369" y="64008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A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E86A8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3da869bca_0_173"/>
          <p:cNvSpPr/>
          <p:nvPr/>
        </p:nvSpPr>
        <p:spPr>
          <a:xfrm>
            <a:off x="1136843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lang="en-US" sz="1100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PULSE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8640" y="822960"/>
            <a:ext cx="11521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lang="en-US" sz="29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Account Health workflow 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48640" y="1658620"/>
            <a:ext cx="11064300" cy="640200"/>
          </a:xfrm>
          <a:prstGeom prst="roundRect">
            <a:avLst>
              <a:gd fmla="val 14286" name="adj"/>
            </a:avLst>
          </a:prstGeom>
          <a:solidFill>
            <a:srgbClr val="1B2A4E"/>
          </a:solidFill>
          <a:ln cap="flat" cmpd="sng" w="12700">
            <a:solidFill>
              <a:srgbClr val="1B2A4E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77240" y="1658620"/>
            <a:ext cx="1060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Net Revenue Retention  =  </a:t>
            </a:r>
            <a:r>
              <a:rPr b="1" i="0" lang="en-US" sz="1500" u="none" cap="none" strike="noStrike">
                <a:solidFill>
                  <a:srgbClr val="E94A3B"/>
                </a:solidFill>
                <a:latin typeface="Poppins"/>
                <a:ea typeface="Poppins"/>
                <a:cs typeface="Poppins"/>
                <a:sym typeface="Poppins"/>
              </a:rPr>
              <a:t>protect the base</a:t>
            </a:r>
            <a:r>
              <a:rPr b="0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+  </a:t>
            </a:r>
            <a:r>
              <a:rPr b="1" i="0" lang="en-US" sz="1500" u="none" cap="none" strike="noStrike">
                <a:solidFill>
                  <a:srgbClr val="22C0E8"/>
                </a:solidFill>
                <a:latin typeface="Poppins"/>
                <a:ea typeface="Poppins"/>
                <a:cs typeface="Poppins"/>
                <a:sym typeface="Poppins"/>
              </a:rPr>
              <a:t>grow the base</a:t>
            </a:r>
            <a:r>
              <a:rPr b="0" i="0" lang="en-US" sz="1300" u="none" cap="none" strike="noStrike">
                <a:solidFill>
                  <a:srgbClr val="C9D3E8"/>
                </a:solidFill>
                <a:latin typeface="Poppins"/>
                <a:ea typeface="Poppins"/>
                <a:cs typeface="Poppins"/>
                <a:sym typeface="Poppins"/>
              </a:rPr>
              <a:t>   — above 100% and the installed base grows with zero new logos.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48650" y="2527300"/>
            <a:ext cx="5440800" cy="23241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F6D4C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548640" y="2527300"/>
            <a:ext cx="5440800" cy="567000"/>
          </a:xfrm>
          <a:prstGeom prst="roundRect">
            <a:avLst>
              <a:gd fmla="val 16129" name="adj"/>
            </a:avLst>
          </a:prstGeom>
          <a:solidFill>
            <a:srgbClr val="E94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822960" y="2527300"/>
            <a:ext cx="493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DEFENCE — Protect ARR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822960" y="3277108"/>
            <a:ext cx="48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A3B"/>
              </a:buClr>
              <a:buSzPts val="950"/>
              <a:buFont typeface="Poppins"/>
              <a:buNone/>
            </a:pPr>
            <a:r>
              <a:rPr b="1" i="0" lang="en-US" sz="950" u="none" cap="none" strike="noStrike">
                <a:solidFill>
                  <a:srgbClr val="E94A3B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822960" y="3487420"/>
            <a:ext cx="48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Usage decline · open service error · renewal &lt; 30 days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822960" y="3935476"/>
            <a:ext cx="48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A3B"/>
              </a:buClr>
              <a:buSzPts val="950"/>
              <a:buFont typeface="Poppins"/>
              <a:buNone/>
            </a:pPr>
            <a:r>
              <a:rPr b="1" i="0" lang="en-US" sz="950" u="none" cap="none" strike="noStrike">
                <a:solidFill>
                  <a:srgbClr val="E94A3B"/>
                </a:solidFill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822960" y="4145788"/>
            <a:ext cx="48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Usage decline is the earliest churn signa</a:t>
            </a:r>
            <a:r>
              <a:rPr lang="en-US" sz="115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172200" y="2527300"/>
            <a:ext cx="5440800" cy="2324100"/>
          </a:xfrm>
          <a:prstGeom prst="roundRect">
            <a:avLst>
              <a:gd fmla="val 2817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6172200" y="2527300"/>
            <a:ext cx="5440800" cy="567000"/>
          </a:xfrm>
          <a:prstGeom prst="roundRect">
            <a:avLst>
              <a:gd fmla="val 16129" name="adj"/>
            </a:avLst>
          </a:prstGeom>
          <a:solidFill>
            <a:srgbClr val="12A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6446520" y="2527300"/>
            <a:ext cx="4937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OFFENCE — Grow ARR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446520" y="3277108"/>
            <a:ext cx="48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950"/>
              <a:buFont typeface="Poppins"/>
              <a:buNone/>
            </a:pPr>
            <a:r>
              <a:rPr b="1" i="0" lang="en-US" sz="95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446520" y="3487420"/>
            <a:ext cx="48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Sustained growth ≥ 10% · nearing capacity on installed units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446520" y="3935476"/>
            <a:ext cx="484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950"/>
              <a:buFont typeface="Poppins"/>
              <a:buNone/>
            </a:pPr>
            <a:r>
              <a:rPr b="1" i="0" lang="en-US" sz="95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WHY IT MATTERS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6446520" y="4145788"/>
            <a:ext cx="4892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The cheapest revenue Aquablu has — the customer already trusts the product. A site at capacity is an add-a-unit signal AURA can see: extra units, BOLD, more flavours.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63690" y="4916423"/>
            <a:ext cx="2286000" cy="384000"/>
          </a:xfrm>
          <a:prstGeom prst="roundRect">
            <a:avLst>
              <a:gd fmla="val 50000" name="adj"/>
            </a:avLst>
          </a:prstGeom>
          <a:solidFill>
            <a:srgbClr val="12A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563690" y="4916423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 PULSE · IN AURA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91625" y="5406475"/>
            <a:ext cx="2016900" cy="6402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709094" y="5463386"/>
            <a:ext cx="1781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On your plate today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709094" y="5676801"/>
            <a:ext cx="178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145"/>
              </a:lnSpc>
              <a:spcBef>
                <a:spcPts val="0"/>
              </a:spcBef>
              <a:spcAft>
                <a:spcPts val="0"/>
              </a:spcAft>
              <a:buClr>
                <a:srgbClr val="7C879C"/>
              </a:buClr>
              <a:buSzPts val="939"/>
              <a:buFont typeface="Calibri"/>
              <a:buNone/>
            </a:pPr>
            <a:r>
              <a:rPr b="0" i="0" lang="en-US" sz="940" u="none" cap="none" strike="noStrike">
                <a:solidFill>
                  <a:srgbClr val="7C879C"/>
                </a:solidFill>
                <a:latin typeface="Calibri"/>
                <a:ea typeface="Calibri"/>
                <a:cs typeface="Calibri"/>
                <a:sym typeface="Calibri"/>
              </a:rPr>
              <a:t>ranked by €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2608182" y="5406475"/>
            <a:ext cx="25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862698" y="5406475"/>
            <a:ext cx="2016900" cy="6402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2980168" y="5463386"/>
            <a:ext cx="1781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Open account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980168" y="5676801"/>
            <a:ext cx="178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145"/>
              </a:lnSpc>
              <a:spcBef>
                <a:spcPts val="0"/>
              </a:spcBef>
              <a:spcAft>
                <a:spcPts val="0"/>
              </a:spcAft>
              <a:buClr>
                <a:srgbClr val="7C879C"/>
              </a:buClr>
              <a:buSzPts val="939"/>
              <a:buFont typeface="Calibri"/>
              <a:buNone/>
            </a:pPr>
            <a:r>
              <a:rPr b="0" i="0" lang="en-US" sz="940" u="none" cap="none" strike="noStrike">
                <a:solidFill>
                  <a:srgbClr val="7C879C"/>
                </a:solidFill>
                <a:latin typeface="Calibri"/>
                <a:ea typeface="Calibri"/>
                <a:cs typeface="Calibri"/>
                <a:sym typeface="Calibri"/>
              </a:rPr>
              <a:t>telemetry + context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4879255" y="5406475"/>
            <a:ext cx="25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133772" y="5406475"/>
            <a:ext cx="2016900" cy="6402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251241" y="5463386"/>
            <a:ext cx="1781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Run the sequence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251241" y="5676801"/>
            <a:ext cx="178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145"/>
              </a:lnSpc>
              <a:spcBef>
                <a:spcPts val="0"/>
              </a:spcBef>
              <a:spcAft>
                <a:spcPts val="0"/>
              </a:spcAft>
              <a:buClr>
                <a:srgbClr val="7C879C"/>
              </a:buClr>
              <a:buSzPts val="939"/>
              <a:buFont typeface="Calibri"/>
              <a:buNone/>
            </a:pPr>
            <a:r>
              <a:rPr b="0" i="0" lang="en-US" sz="940" u="none" cap="none" strike="noStrike">
                <a:solidFill>
                  <a:srgbClr val="7C879C"/>
                </a:solidFill>
                <a:latin typeface="Calibri"/>
                <a:ea typeface="Calibri"/>
                <a:cs typeface="Calibri"/>
                <a:sym typeface="Calibri"/>
              </a:rPr>
              <a:t>AURA-drafted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7150328" y="5406475"/>
            <a:ext cx="25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404845" y="5406475"/>
            <a:ext cx="2016900" cy="6402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7522315" y="5463386"/>
            <a:ext cx="1781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Log &amp; sync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522315" y="5676801"/>
            <a:ext cx="178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145"/>
              </a:lnSpc>
              <a:spcBef>
                <a:spcPts val="0"/>
              </a:spcBef>
              <a:spcAft>
                <a:spcPts val="0"/>
              </a:spcAft>
              <a:buClr>
                <a:srgbClr val="7C879C"/>
              </a:buClr>
              <a:buSzPts val="939"/>
              <a:buFont typeface="Calibri"/>
              <a:buNone/>
            </a:pPr>
            <a:r>
              <a:rPr b="0" i="0" lang="en-US" sz="940" u="none" cap="none" strike="noStrike">
                <a:solidFill>
                  <a:srgbClr val="7C879C"/>
                </a:solidFill>
                <a:latin typeface="Calibri"/>
                <a:ea typeface="Calibri"/>
                <a:cs typeface="Calibri"/>
                <a:sym typeface="Calibri"/>
              </a:rPr>
              <a:t>to Salesforce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9421402" y="5406475"/>
            <a:ext cx="25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675919" y="5406475"/>
            <a:ext cx="2016900" cy="6402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DEF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9793388" y="5463386"/>
            <a:ext cx="1781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Auto-monitor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9793388" y="5676801"/>
            <a:ext cx="1781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145"/>
              </a:lnSpc>
              <a:spcBef>
                <a:spcPts val="0"/>
              </a:spcBef>
              <a:spcAft>
                <a:spcPts val="0"/>
              </a:spcAft>
              <a:buClr>
                <a:srgbClr val="7C879C"/>
              </a:buClr>
              <a:buSzPts val="939"/>
              <a:buFont typeface="Calibri"/>
              <a:buNone/>
            </a:pPr>
            <a:r>
              <a:rPr b="0" i="0" lang="en-US" sz="940" u="none" cap="none" strike="noStrike">
                <a:solidFill>
                  <a:srgbClr val="7C879C"/>
                </a:solidFill>
                <a:latin typeface="Calibri"/>
                <a:ea typeface="Calibri"/>
                <a:cs typeface="Calibri"/>
                <a:sym typeface="Calibri"/>
              </a:rPr>
              <a:t>re-opens if it slips</a:t>
            </a:r>
            <a:endParaRPr b="0" i="0" sz="9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91630" y="6083300"/>
            <a:ext cx="11257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Calibri"/>
                <a:ea typeface="Calibri"/>
                <a:cs typeface="Calibri"/>
                <a:sym typeface="Calibri"/>
              </a:rPr>
              <a:t>1 account = 1 screen  ·  ~5 min  ·  proactive  ·  </a:t>
            </a:r>
            <a:r>
              <a:rPr b="0" i="0" lang="en-US" sz="11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every action logged in AURA</a:t>
            </a:r>
            <a:r>
              <a:rPr lang="en-US" sz="1100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1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TARGET OUTCOMES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344"/>
              </a:lnSpc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2900"/>
              <a:buFont typeface="Poppins"/>
              <a:buNone/>
            </a:pPr>
            <a:r>
              <a:rPr b="1" i="0" lang="en-US" sz="29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What changes when this lives in AURA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8640" y="1965960"/>
            <a:ext cx="3520440" cy="39776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04672" y="2212848"/>
            <a:ext cx="2286000" cy="384048"/>
          </a:xfrm>
          <a:prstGeom prst="roundRect">
            <a:avLst>
              <a:gd fmla="val 50000" name="adj"/>
            </a:avLst>
          </a:prstGeom>
          <a:solidFill>
            <a:srgbClr val="EF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804672" y="221284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FOR THE CSM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804672" y="2743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User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822960" y="331012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1051560" y="32461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Opens one place and sees which accounts put revenue at risk today — ranked by €.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22960" y="417880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1051560" y="411480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Sees the machine's telemetry and the account context in a single 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22960" y="504748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1051560" y="49834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Acts — reach out, log, schedule, propose — without leaving AURA.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251960" y="1965960"/>
            <a:ext cx="3520440" cy="39776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4507992" y="2212848"/>
            <a:ext cx="2286000" cy="384048"/>
          </a:xfrm>
          <a:prstGeom prst="roundRect">
            <a:avLst>
              <a:gd fmla="val 50000" name="adj"/>
            </a:avLst>
          </a:prstGeom>
          <a:solidFill>
            <a:srgbClr val="E3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4507992" y="221284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FOR AQUABLU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507992" y="2743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Business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526280" y="331012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2A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4754880" y="32461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Churn caught earlier → ARR protected before renewal or downgrade.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526280" y="417880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2A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4754880" y="411480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Expansion signals surfaced → NRR above 100%.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4526280" y="504748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2A4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4754880" y="49834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One CSM covers more accounts → scale without headcount.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7955280" y="1965960"/>
            <a:ext cx="3520440" cy="39776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141C3C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8211312" y="2212848"/>
            <a:ext cx="2286000" cy="384048"/>
          </a:xfrm>
          <a:prstGeom prst="roundRect">
            <a:avLst>
              <a:gd fmla="val 50000" name="adj"/>
            </a:avLst>
          </a:prstGeom>
          <a:solidFill>
            <a:srgbClr val="E3F7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8211312" y="221284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BF74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2FBF74"/>
                </a:solidFill>
                <a:latin typeface="Poppins"/>
                <a:ea typeface="Poppins"/>
                <a:cs typeface="Poppins"/>
                <a:sym typeface="Poppins"/>
              </a:rPr>
              <a:t>FOR AURA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8211312" y="27432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Platform outcome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8229600" y="331012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FB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8458200" y="32461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 reason for CS to open AURA every day → adoption.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8229600" y="417880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FB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8458200" y="411480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Customer-interaction data now sits beside machine telemetry.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8229600" y="5047488"/>
            <a:ext cx="109728" cy="10972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FB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8458200" y="498348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A repeatable pattern for the next department to follow.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F9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3da869bca_0_227"/>
          <p:cNvSpPr/>
          <p:nvPr/>
        </p:nvSpPr>
        <p:spPr>
          <a:xfrm>
            <a:off x="640063" y="457200"/>
            <a:ext cx="731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9BC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9BC7"/>
                </a:solidFill>
                <a:latin typeface="Arial"/>
                <a:ea typeface="Arial"/>
                <a:cs typeface="Arial"/>
                <a:sym typeface="Arial"/>
              </a:rPr>
              <a:t>TARGET OUTCOMES &amp; KPIS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3da869bca_0_227"/>
          <p:cNvSpPr/>
          <p:nvPr/>
        </p:nvSpPr>
        <p:spPr>
          <a:xfrm>
            <a:off x="640063" y="749808"/>
            <a:ext cx="10881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3000"/>
              <a:buFont typeface="Poppins"/>
              <a:buNone/>
            </a:pPr>
            <a:r>
              <a:rPr b="1" i="0" lang="en-US" sz="3000" u="none" cap="none" strike="noStrike">
                <a:solidFill>
                  <a:srgbClr val="0B1C33"/>
                </a:solidFill>
                <a:latin typeface="Poppins"/>
                <a:ea typeface="Poppins"/>
                <a:cs typeface="Poppins"/>
                <a:sym typeface="Poppins"/>
              </a:rPr>
              <a:t>How we'll know it's working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3da869bca_0_227"/>
          <p:cNvSpPr/>
          <p:nvPr/>
        </p:nvSpPr>
        <p:spPr>
          <a:xfrm>
            <a:off x="640063" y="1828800"/>
            <a:ext cx="2583300" cy="173730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f3da869bca_0_227"/>
          <p:cNvSpPr/>
          <p:nvPr/>
        </p:nvSpPr>
        <p:spPr>
          <a:xfrm>
            <a:off x="822938" y="1975104"/>
            <a:ext cx="221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TOOL SWITCHES PER TRIAGE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3da869bca_0_227"/>
          <p:cNvSpPr/>
          <p:nvPr/>
        </p:nvSpPr>
        <p:spPr>
          <a:xfrm>
            <a:off x="822938" y="2560320"/>
            <a:ext cx="221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44C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E1544C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0" i="0" lang="en-US" sz="1500" u="none" cap="none" strike="noStrike">
                <a:solidFill>
                  <a:srgbClr val="8993A3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lang="en-US" sz="2200">
                <a:solidFill>
                  <a:srgbClr val="1FAE64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f3da869bca_0_227"/>
          <p:cNvSpPr/>
          <p:nvPr/>
        </p:nvSpPr>
        <p:spPr>
          <a:xfrm>
            <a:off x="822938" y="3246120"/>
            <a:ext cx="221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before → after (v1)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3da869bca_0_227"/>
          <p:cNvSpPr/>
          <p:nvPr/>
        </p:nvSpPr>
        <p:spPr>
          <a:xfrm>
            <a:off x="3406049" y="1828800"/>
            <a:ext cx="2583300" cy="173730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3da869bca_0_227"/>
          <p:cNvSpPr/>
          <p:nvPr/>
        </p:nvSpPr>
        <p:spPr>
          <a:xfrm>
            <a:off x="3588924" y="1975104"/>
            <a:ext cx="221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MINUTES PER ACCOUNT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f3da869bca_0_227"/>
          <p:cNvSpPr/>
          <p:nvPr/>
        </p:nvSpPr>
        <p:spPr>
          <a:xfrm>
            <a:off x="3588924" y="2560320"/>
            <a:ext cx="221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44C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E1544C"/>
                </a:solidFill>
                <a:latin typeface="Poppins"/>
                <a:ea typeface="Poppins"/>
                <a:cs typeface="Poppins"/>
                <a:sym typeface="Poppins"/>
              </a:rPr>
              <a:t>~25</a:t>
            </a:r>
            <a:r>
              <a:rPr b="0" i="0" lang="en-US" sz="1500" u="none" cap="none" strike="noStrike">
                <a:solidFill>
                  <a:srgbClr val="8993A3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2200" u="none" cap="none" strike="noStrike">
                <a:solidFill>
                  <a:srgbClr val="1FAE64"/>
                </a:solidFill>
                <a:latin typeface="Poppins"/>
                <a:ea typeface="Poppins"/>
                <a:cs typeface="Poppins"/>
                <a:sym typeface="Poppins"/>
              </a:rPr>
              <a:t>~</a:t>
            </a:r>
            <a:r>
              <a:rPr b="1" lang="en-US" sz="2200">
                <a:solidFill>
                  <a:srgbClr val="1FAE64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3da869bca_0_227"/>
          <p:cNvSpPr/>
          <p:nvPr/>
        </p:nvSpPr>
        <p:spPr>
          <a:xfrm>
            <a:off x="3588924" y="3246120"/>
            <a:ext cx="221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before → after (v1)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f3da869bca_0_227"/>
          <p:cNvSpPr/>
          <p:nvPr/>
        </p:nvSpPr>
        <p:spPr>
          <a:xfrm>
            <a:off x="6172035" y="1828800"/>
            <a:ext cx="2583300" cy="173730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3da869bca_0_227"/>
          <p:cNvSpPr/>
          <p:nvPr/>
        </p:nvSpPr>
        <p:spPr>
          <a:xfrm>
            <a:off x="6354911" y="1975104"/>
            <a:ext cx="221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MISSED RENEWALS / MO.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3da869bca_0_227"/>
          <p:cNvSpPr/>
          <p:nvPr/>
        </p:nvSpPr>
        <p:spPr>
          <a:xfrm>
            <a:off x="6354911" y="2560320"/>
            <a:ext cx="221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44C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E1544C"/>
                </a:solidFill>
                <a:latin typeface="Poppins"/>
                <a:ea typeface="Poppins"/>
                <a:cs typeface="Poppins"/>
                <a:sym typeface="Poppins"/>
              </a:rPr>
              <a:t>2–3</a:t>
            </a:r>
            <a:r>
              <a:rPr b="0" i="0" lang="en-US" sz="1500" u="none" cap="none" strike="noStrike">
                <a:solidFill>
                  <a:srgbClr val="8993A3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2200" u="none" cap="none" strike="noStrike">
                <a:solidFill>
                  <a:srgbClr val="1FAE64"/>
                </a:solidFill>
                <a:latin typeface="Poppins"/>
                <a:ea typeface="Poppins"/>
                <a:cs typeface="Poppins"/>
                <a:sym typeface="Poppins"/>
              </a:rPr>
              <a:t>0 (target)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3da869bca_0_227"/>
          <p:cNvSpPr/>
          <p:nvPr/>
        </p:nvSpPr>
        <p:spPr>
          <a:xfrm>
            <a:off x="6354911" y="3246120"/>
            <a:ext cx="221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before → after (v1)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3da869bca_0_227"/>
          <p:cNvSpPr/>
          <p:nvPr/>
        </p:nvSpPr>
        <p:spPr>
          <a:xfrm>
            <a:off x="8938022" y="1828800"/>
            <a:ext cx="2583300" cy="173730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2E6EE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5400000" dist="50800">
              <a:srgbClr val="0B1C33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3da869bca_0_227"/>
          <p:cNvSpPr/>
          <p:nvPr/>
        </p:nvSpPr>
        <p:spPr>
          <a:xfrm>
            <a:off x="9120897" y="1975104"/>
            <a:ext cx="221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EXPANSION SIGNALS SURFACED / MO.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3da869bca_0_227"/>
          <p:cNvSpPr/>
          <p:nvPr/>
        </p:nvSpPr>
        <p:spPr>
          <a:xfrm>
            <a:off x="9120897" y="2560320"/>
            <a:ext cx="2217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544C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E1544C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b="0" i="0" lang="en-US" sz="1500" u="none" cap="none" strike="noStrike">
                <a:solidFill>
                  <a:srgbClr val="8993A3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2200" u="none" cap="none" strike="noStrike">
                <a:solidFill>
                  <a:srgbClr val="1FAE64"/>
                </a:solidFill>
                <a:latin typeface="Poppins"/>
                <a:ea typeface="Poppins"/>
                <a:cs typeface="Poppins"/>
                <a:sym typeface="Poppins"/>
              </a:rPr>
              <a:t>2+ (sample)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3da869bca_0_227"/>
          <p:cNvSpPr/>
          <p:nvPr/>
        </p:nvSpPr>
        <p:spPr>
          <a:xfrm>
            <a:off x="9120897" y="3246120"/>
            <a:ext cx="221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before → after (v1)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3da869bca_0_227"/>
          <p:cNvSpPr/>
          <p:nvPr/>
        </p:nvSpPr>
        <p:spPr>
          <a:xfrm>
            <a:off x="640063" y="3877056"/>
            <a:ext cx="146400" cy="146400"/>
          </a:xfrm>
          <a:prstGeom prst="ellipse">
            <a:avLst/>
          </a:prstGeom>
          <a:solidFill>
            <a:srgbClr val="2FB8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3da869bca_0_227"/>
          <p:cNvSpPr/>
          <p:nvPr/>
        </p:nvSpPr>
        <p:spPr>
          <a:xfrm>
            <a:off x="914376" y="3739896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Adoption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3da869bca_0_227"/>
          <p:cNvSpPr/>
          <p:nvPr/>
        </p:nvSpPr>
        <p:spPr>
          <a:xfrm>
            <a:off x="2926002" y="3739896"/>
            <a:ext cx="859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100% of CS team using Health Radar daily within 4 weeks · sessions per user/day · drop-off back to old tools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3da869bca_0_227"/>
          <p:cNvSpPr/>
          <p:nvPr/>
        </p:nvSpPr>
        <p:spPr>
          <a:xfrm>
            <a:off x="640063" y="4480560"/>
            <a:ext cx="146400" cy="146400"/>
          </a:xfrm>
          <a:prstGeom prst="ellipse">
            <a:avLst/>
          </a:prstGeom>
          <a:solidFill>
            <a:srgbClr val="8C6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3da869bca_0_227"/>
          <p:cNvSpPr/>
          <p:nvPr/>
        </p:nvSpPr>
        <p:spPr>
          <a:xfrm>
            <a:off x="914376" y="4343400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f3da869bca_0_227"/>
          <p:cNvSpPr/>
          <p:nvPr/>
        </p:nvSpPr>
        <p:spPr>
          <a:xfrm>
            <a:off x="2926002" y="4343400"/>
            <a:ext cx="859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Time-to-resolution before vs. after · manual data entry eliminated · zero tool switches per completed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3da869bca_0_227"/>
          <p:cNvSpPr/>
          <p:nvPr/>
        </p:nvSpPr>
        <p:spPr>
          <a:xfrm>
            <a:off x="640063" y="5084064"/>
            <a:ext cx="146400" cy="146400"/>
          </a:xfrm>
          <a:prstGeom prst="ellipse">
            <a:avLst/>
          </a:prstGeom>
          <a:solidFill>
            <a:srgbClr val="1FAE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3da869bca_0_227"/>
          <p:cNvSpPr/>
          <p:nvPr/>
        </p:nvSpPr>
        <p:spPr>
          <a:xfrm>
            <a:off x="914376" y="4946904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Business (lagging)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f3da869bca_0_227"/>
          <p:cNvSpPr/>
          <p:nvPr/>
        </p:nvSpPr>
        <p:spPr>
          <a:xfrm>
            <a:off x="2926002" y="4946904"/>
            <a:ext cx="859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Churn rate &amp; NRR — NRR captures both sides: revenue saved through early renewal saves, and revenue added through expansion proposals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f3da869bca_0_227"/>
          <p:cNvSpPr/>
          <p:nvPr/>
        </p:nvSpPr>
        <p:spPr>
          <a:xfrm>
            <a:off x="640063" y="5806440"/>
            <a:ext cx="10881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v1 focuses on adoption + efficiency — the business KPIs, including NRR, are lagging indicators that earn the right to keep building.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3da869bca_0_227"/>
          <p:cNvSpPr/>
          <p:nvPr/>
        </p:nvSpPr>
        <p:spPr>
          <a:xfrm>
            <a:off x="640063" y="640080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C33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B1C33"/>
                </a:solidFill>
                <a:latin typeface="Arial"/>
                <a:ea typeface="Arial"/>
                <a:cs typeface="Arial"/>
                <a:sym typeface="Arial"/>
              </a:rPr>
              <a:t>AURA</a:t>
            </a:r>
            <a:r>
              <a:rPr b="0" i="0" lang="en-US" sz="95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  ·  Customer Success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3da869bca_0_227"/>
          <p:cNvSpPr/>
          <p:nvPr/>
        </p:nvSpPr>
        <p:spPr>
          <a:xfrm>
            <a:off x="11368432" y="640080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3A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93A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E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3da869bca_0_194"/>
          <p:cNvSpPr/>
          <p:nvPr/>
        </p:nvSpPr>
        <p:spPr>
          <a:xfrm>
            <a:off x="502920" y="641908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3da869bca_0_194"/>
          <p:cNvSpPr/>
          <p:nvPr/>
        </p:nvSpPr>
        <p:spPr>
          <a:xfrm>
            <a:off x="11247120" y="641908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3da869bca_0_194"/>
          <p:cNvSpPr/>
          <p:nvPr/>
        </p:nvSpPr>
        <p:spPr>
          <a:xfrm>
            <a:off x="548640" y="548640"/>
            <a:ext cx="1005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22C0E8"/>
                </a:solidFill>
                <a:latin typeface="Poppins"/>
                <a:ea typeface="Poppins"/>
                <a:cs typeface="Poppins"/>
                <a:sym typeface="Poppins"/>
              </a:rPr>
              <a:t>THE BUILD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f3da869bca_0_194"/>
          <p:cNvSpPr/>
          <p:nvPr/>
        </p:nvSpPr>
        <p:spPr>
          <a:xfrm>
            <a:off x="548640" y="86868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oppins"/>
              <a:buNone/>
            </a:pPr>
            <a:r>
              <a:rPr b="1"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b="1" i="0" lang="en-US" sz="4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3da869bca_0_194"/>
          <p:cNvSpPr/>
          <p:nvPr/>
        </p:nvSpPr>
        <p:spPr>
          <a:xfrm>
            <a:off x="548640" y="178308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9D3E8"/>
                </a:solidFill>
                <a:latin typeface="Calibri"/>
                <a:ea typeface="Calibri"/>
                <a:cs typeface="Calibri"/>
                <a:sym typeface="Calibri"/>
              </a:rPr>
              <a:t>Pulse, running — clickable, real interactions, fake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3da869bca_0_194"/>
          <p:cNvSpPr/>
          <p:nvPr/>
        </p:nvSpPr>
        <p:spPr>
          <a:xfrm>
            <a:off x="635150" y="2346025"/>
            <a:ext cx="610500" cy="495300"/>
          </a:xfrm>
          <a:prstGeom prst="roundRect">
            <a:avLst>
              <a:gd fmla="val 16667" name="adj"/>
            </a:avLst>
          </a:prstGeom>
          <a:solidFill>
            <a:srgbClr val="22C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3da869bca_0_194"/>
          <p:cNvSpPr/>
          <p:nvPr/>
        </p:nvSpPr>
        <p:spPr>
          <a:xfrm>
            <a:off x="635150" y="2346025"/>
            <a:ext cx="61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3da869bca_0_194"/>
          <p:cNvSpPr/>
          <p:nvPr/>
        </p:nvSpPr>
        <p:spPr>
          <a:xfrm>
            <a:off x="1408722" y="2318500"/>
            <a:ext cx="9437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A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Sign in → Portfolio ranked by what needs me, in euros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3da869bca_0_194"/>
          <p:cNvSpPr/>
          <p:nvPr/>
        </p:nvSpPr>
        <p:spPr>
          <a:xfrm>
            <a:off x="635150" y="3116883"/>
            <a:ext cx="610500" cy="495300"/>
          </a:xfrm>
          <a:prstGeom prst="roundRect">
            <a:avLst>
              <a:gd fmla="val 16667" name="adj"/>
            </a:avLst>
          </a:prstGeom>
          <a:solidFill>
            <a:srgbClr val="22C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3da869bca_0_194"/>
          <p:cNvSpPr/>
          <p:nvPr/>
        </p:nvSpPr>
        <p:spPr>
          <a:xfrm>
            <a:off x="635150" y="3116883"/>
            <a:ext cx="61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f3da869bca_0_194"/>
          <p:cNvSpPr/>
          <p:nvPr/>
        </p:nvSpPr>
        <p:spPr>
          <a:xfrm>
            <a:off x="1408722" y="3089358"/>
            <a:ext cx="9437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A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Open a Protect account → see the "why" and the € at risk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3da869bca_0_194"/>
          <p:cNvSpPr/>
          <p:nvPr/>
        </p:nvSpPr>
        <p:spPr>
          <a:xfrm>
            <a:off x="635150" y="3887742"/>
            <a:ext cx="610500" cy="495300"/>
          </a:xfrm>
          <a:prstGeom prst="roundRect">
            <a:avLst>
              <a:gd fmla="val 16667" name="adj"/>
            </a:avLst>
          </a:prstGeom>
          <a:solidFill>
            <a:srgbClr val="22C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3da869bca_0_194"/>
          <p:cNvSpPr/>
          <p:nvPr/>
        </p:nvSpPr>
        <p:spPr>
          <a:xfrm>
            <a:off x="635150" y="3887742"/>
            <a:ext cx="61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3da869bca_0_194"/>
          <p:cNvSpPr/>
          <p:nvPr/>
        </p:nvSpPr>
        <p:spPr>
          <a:xfrm>
            <a:off x="1408722" y="3860217"/>
            <a:ext cx="9437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A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Start play → context pre-loaded, message auto-drafted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3da869bca_0_194"/>
          <p:cNvSpPr/>
          <p:nvPr/>
        </p:nvSpPr>
        <p:spPr>
          <a:xfrm>
            <a:off x="635150" y="4658600"/>
            <a:ext cx="610500" cy="495300"/>
          </a:xfrm>
          <a:prstGeom prst="roundRect">
            <a:avLst>
              <a:gd fmla="val 16667" name="adj"/>
            </a:avLst>
          </a:prstGeom>
          <a:solidFill>
            <a:srgbClr val="22C0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3da869bca_0_194"/>
          <p:cNvSpPr/>
          <p:nvPr/>
        </p:nvSpPr>
        <p:spPr>
          <a:xfrm>
            <a:off x="635150" y="4658600"/>
            <a:ext cx="610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f3da869bca_0_194"/>
          <p:cNvSpPr/>
          <p:nvPr/>
        </p:nvSpPr>
        <p:spPr>
          <a:xfrm>
            <a:off x="1408722" y="4631075"/>
            <a:ext cx="9437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A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Log &amp; schedule → recorded in AURA, account clears the queue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8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B6"/>
                </a:solidFill>
                <a:latin typeface="Calibri"/>
                <a:ea typeface="Calibri"/>
                <a:cs typeface="Calibri"/>
                <a:sym typeface="Calibri"/>
              </a:rPr>
              <a:t>AURA · Customer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B6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9AA3B6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ADOPTION &amp; THE ROAD AHEAD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A4E"/>
              </a:buClr>
              <a:buSzPts val="3200"/>
              <a:buFont typeface="Poppins"/>
              <a:buNone/>
            </a:pPr>
            <a:r>
              <a:rPr b="1" lang="en-US" sz="3200">
                <a:solidFill>
                  <a:srgbClr val="1B2A4E"/>
                </a:solidFill>
                <a:latin typeface="Poppins"/>
                <a:ea typeface="Poppins"/>
                <a:cs typeface="Poppins"/>
                <a:sym typeface="Poppins"/>
              </a:rPr>
              <a:t>Ship v1, learn, iterate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548640" y="1874520"/>
            <a:ext cx="26976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8792A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804672" y="210312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A4C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2A4CF"/>
                </a:solidFill>
                <a:latin typeface="Poppins"/>
                <a:ea typeface="Poppins"/>
                <a:cs typeface="Poppins"/>
                <a:sym typeface="Poppins"/>
              </a:rPr>
              <a:t>Week 1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804672" y="2560320"/>
            <a:ext cx="2185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Put it in front of 2–3 CSMs. Watch where they revert to old tools.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ic/arrowRight_navy.png" id="402" name="Google Shape;4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120" y="27432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1"/>
          <p:cNvSpPr/>
          <p:nvPr/>
        </p:nvSpPr>
        <p:spPr>
          <a:xfrm>
            <a:off x="3410712" y="1874520"/>
            <a:ext cx="26976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8792A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3666744" y="210312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8B7CF6"/>
                </a:solidFill>
                <a:latin typeface="Poppins"/>
                <a:ea typeface="Poppins"/>
                <a:cs typeface="Poppins"/>
                <a:sym typeface="Poppins"/>
              </a:rPr>
              <a:t>Weeks 2–4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3666744" y="2560320"/>
            <a:ext cx="2185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Soft launch to full CS team. Track adoption daily; weekly feedback.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ic/arrowRight_navy.png" id="406" name="Google Shape;40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8192" y="27432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1"/>
          <p:cNvSpPr/>
          <p:nvPr/>
        </p:nvSpPr>
        <p:spPr>
          <a:xfrm>
            <a:off x="6272784" y="1874520"/>
            <a:ext cx="26976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8792A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6528816" y="210312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52B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5952B"/>
                </a:solidFill>
                <a:latin typeface="Poppins"/>
                <a:ea typeface="Poppins"/>
                <a:cs typeface="Poppins"/>
                <a:sym typeface="Poppins"/>
              </a:rPr>
              <a:t>Month 2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528816" y="2560320"/>
            <a:ext cx="2185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Evaluate efficiency KPIs — is it actually faster, tool switches gone?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ic/arrowRight_navy.png" id="410" name="Google Shape;4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0264" y="27432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9134856" y="1874520"/>
            <a:ext cx="2697600" cy="196590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12700">
            <a:solidFill>
              <a:srgbClr val="E9EBF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8792A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9390888" y="210312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F74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2FBF74"/>
                </a:solidFill>
                <a:latin typeface="Poppins"/>
                <a:ea typeface="Poppins"/>
                <a:cs typeface="Poppins"/>
                <a:sym typeface="Poppins"/>
              </a:rPr>
              <a:t>Month 3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9390888" y="2560320"/>
            <a:ext cx="2185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30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5304A"/>
                </a:solidFill>
                <a:latin typeface="Calibri"/>
                <a:ea typeface="Calibri"/>
                <a:cs typeface="Calibri"/>
                <a:sym typeface="Calibri"/>
              </a:rPr>
              <a:t>Deepen Pulse or start the next workflow. Then the next department.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48650" y="4114800"/>
            <a:ext cx="11064300" cy="1893900"/>
          </a:xfrm>
          <a:prstGeom prst="roundRect">
            <a:avLst>
              <a:gd fmla="val 6857" name="adj"/>
            </a:avLst>
          </a:prstGeom>
          <a:solidFill>
            <a:srgbClr val="1B2A4E"/>
          </a:solidFill>
          <a:ln cap="flat" cmpd="sng" w="12700">
            <a:solidFill>
              <a:srgbClr val="1B2A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868680" y="42976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Iteration logic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868680" y="4709160"/>
            <a:ext cx="1042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C0E8"/>
                </a:solidFill>
                <a:latin typeface="Calibri"/>
                <a:ea typeface="Calibri"/>
                <a:cs typeface="Calibri"/>
                <a:sym typeface="Calibri"/>
              </a:rPr>
              <a:t>Low adoption  </a:t>
            </a:r>
            <a:r>
              <a:rPr b="0" i="0" lang="en-US" sz="125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→ workflow doesn't match their real routine — back to discovery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868680" y="5038344"/>
            <a:ext cx="1042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C0E8"/>
                </a:solidFill>
                <a:latin typeface="Calibri"/>
                <a:ea typeface="Calibri"/>
                <a:cs typeface="Calibri"/>
                <a:sym typeface="Calibri"/>
              </a:rPr>
              <a:t>High adoption, flat efficiency  </a:t>
            </a:r>
            <a:r>
              <a:rPr b="0" i="0" lang="en-US" sz="125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→ UI or data is wrong — iterate on solution design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868680" y="5367528"/>
            <a:ext cx="1042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0E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2C0E8"/>
                </a:solidFill>
                <a:latin typeface="Calibri"/>
                <a:ea typeface="Calibri"/>
                <a:cs typeface="Calibri"/>
                <a:sym typeface="Calibri"/>
              </a:rPr>
              <a:t>Both high  </a:t>
            </a:r>
            <a:r>
              <a:rPr b="0" i="0" lang="en-US" sz="1250" u="none" cap="none" strike="noStrike">
                <a:solidFill>
                  <a:srgbClr val="E4EAF4"/>
                </a:solidFill>
                <a:latin typeface="Calibri"/>
                <a:ea typeface="Calibri"/>
                <a:cs typeface="Calibri"/>
                <a:sym typeface="Calibri"/>
              </a:rPr>
              <a:t>→ start again for the next workflow, then the next department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365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3da869bca_0_295"/>
          <p:cNvSpPr/>
          <p:nvPr/>
        </p:nvSpPr>
        <p:spPr>
          <a:xfrm>
            <a:off x="-2194501" y="3291840"/>
            <a:ext cx="5943300" cy="5943600"/>
          </a:xfrm>
          <a:prstGeom prst="ellipse">
            <a:avLst/>
          </a:prstGeom>
          <a:noFill/>
          <a:ln cap="flat" cmpd="sng" w="19050">
            <a:solidFill>
              <a:srgbClr val="1E3A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3da869bca_0_295"/>
          <p:cNvSpPr/>
          <p:nvPr/>
        </p:nvSpPr>
        <p:spPr>
          <a:xfrm>
            <a:off x="-1463001" y="4023360"/>
            <a:ext cx="4480500" cy="4480500"/>
          </a:xfrm>
          <a:prstGeom prst="ellipse">
            <a:avLst/>
          </a:prstGeom>
          <a:solidFill>
            <a:srgbClr val="2FB8E6">
              <a:alpha val="3920"/>
            </a:srgbClr>
          </a:solidFill>
          <a:ln cap="flat" cmpd="sng" w="19050">
            <a:solidFill>
              <a:srgbClr val="2FB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f3da869bca_0_295"/>
          <p:cNvSpPr/>
          <p:nvPr/>
        </p:nvSpPr>
        <p:spPr>
          <a:xfrm>
            <a:off x="640063" y="1554480"/>
            <a:ext cx="7314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FB8E6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3da869bca_0_295"/>
          <p:cNvSpPr/>
          <p:nvPr/>
        </p:nvSpPr>
        <p:spPr>
          <a:xfrm>
            <a:off x="640063" y="1965960"/>
            <a:ext cx="105153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understand where Aquablu is going.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have a method for turning that into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decisions. And I can ship.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g3f3da869bca_0_295"/>
          <p:cNvCxnSpPr/>
          <p:nvPr/>
        </p:nvCxnSpPr>
        <p:spPr>
          <a:xfrm>
            <a:off x="640063" y="5074920"/>
            <a:ext cx="10881000" cy="0"/>
          </a:xfrm>
          <a:prstGeom prst="straightConnector1">
            <a:avLst/>
          </a:prstGeom>
          <a:noFill/>
          <a:ln cap="flat" cmpd="sng" w="12700">
            <a:solidFill>
              <a:srgbClr val="1C3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g3f3da869bca_0_295"/>
          <p:cNvSpPr/>
          <p:nvPr/>
        </p:nvSpPr>
        <p:spPr>
          <a:xfrm>
            <a:off x="640063" y="5349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B8E6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2FB8E6"/>
                </a:solidFill>
                <a:latin typeface="Poppins"/>
                <a:ea typeface="Poppins"/>
                <a:cs typeface="Poppins"/>
                <a:sym typeface="Poppins"/>
              </a:rPr>
              <a:t>Thank you — questions welcome.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f3da869bca_0_295"/>
          <p:cNvSpPr/>
          <p:nvPr/>
        </p:nvSpPr>
        <p:spPr>
          <a:xfrm>
            <a:off x="640063" y="5943600"/>
            <a:ext cx="914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B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E93B0"/>
                </a:solidFill>
                <a:latin typeface="Arial"/>
                <a:ea typeface="Arial"/>
                <a:cs typeface="Arial"/>
                <a:sym typeface="Arial"/>
              </a:rPr>
              <a:t>Bezawit</a:t>
            </a:r>
            <a:r>
              <a:rPr lang="en-US" sz="1100">
                <a:solidFill>
                  <a:srgbClr val="7E93B0"/>
                </a:solidFill>
              </a:rPr>
              <a:t> </a:t>
            </a:r>
            <a:r>
              <a:rPr b="0" i="0" lang="en-US" sz="1100" u="none" cap="none" strike="noStrike">
                <a:solidFill>
                  <a:srgbClr val="7E93B0"/>
                </a:solidFill>
                <a:latin typeface="Arial"/>
                <a:ea typeface="Arial"/>
                <a:cs typeface="Arial"/>
                <a:sym typeface="Arial"/>
              </a:rPr>
              <a:t> Bekele  ·  Digital Product Builder case  ·  Aquablu, August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2026-08-09T09:49:18Z</dcterms:created>
  <dc:creator>PptxGenJS</dc:creator>
</cp:coreProperties>
</file>